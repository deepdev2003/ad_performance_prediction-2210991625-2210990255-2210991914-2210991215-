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Predicting Digital Ad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A Machine Learning Project on Meta and Google Ad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Final Year Project Submission - 2026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Deepanshu  -  Akashdeep (Team Lead)  -  Medha  -  Harsh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95959"/>
                </a:solidFill>
                <a:latin typeface="Calibri"/>
              </a:rPr>
              <a:t>A real scenario faced by D2C marketing teams every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A 3-person performance team has INR 8 lakh to spend on a Diwali campaign.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They build 5 creatives over the weekend. Push them live Monday.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By Wednesday, 3 creatives are already dead - INR 80,000 wasted on 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95959"/>
                </a:solidFill>
                <a:latin typeface="Calibri"/>
              </a:rPr>
              <a:t>Two creatives carry the whole campaign.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D7D31"/>
                </a:solidFill>
                <a:latin typeface="Calibri"/>
              </a:rPr>
              <a:t>Question: Could ML have told them on Sunday which 2 would win?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EA72E"/>
                </a:solidFill>
                <a:latin typeface="Calibri"/>
              </a:rPr>
              <a:t>If yes, that's INR 2.4 lakh saved -&gt; enough to fund a second campaign.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An ML system that predicts how an ad will perform - BEFORE it goes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1828800" cy="4572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011680"/>
            <a:ext cx="1828800" cy="4572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2011680"/>
            <a:ext cx="1828800" cy="457200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Ad's brand name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Platform (Meta/Google)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Format (image/video/carousel)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Theme (discount/expert/testimonial)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Audience type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Language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Call-to-action button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743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A 4-model stacked ensemble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Trained on 22,000+ real ads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Plus 1,120 creative samples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Plus 120 hand-tagged competitor ads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Algorithms: HGB, LightGBM, XGBoost,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Random Forest + 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7432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Click-Through Rate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Cost per Click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Cost per Mille (CPM)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Cost per Acquisition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Conversion Rate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Will users stick (D1, D7, D30)?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Install Quality Score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+8 more = 15 predictions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212080"/>
            <a:ext cx="11064240" cy="1371600"/>
          </a:xfrm>
          <a:prstGeom prst="roundRect">
            <a:avLst/>
          </a:prstGeom>
          <a:solidFill>
            <a:srgbClr val="E7ECF4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8523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QUICK EXAMPLE - one Mamaearth carousel ad on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Input: brand=Mamaearth, platform=Facebook, format=Carousel, theme=Discount, audience=New_Mom_0_6m, language=Hinglish, CTA=Shop Now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669280"/>
            <a:ext cx="5577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A72E"/>
                </a:solidFill>
                <a:latin typeface="Calibri"/>
              </a:rPr>
              <a:t>Predicted -&gt; CTR ~ 2.4%, CPC ~ INR 13, D1 retention ~ 22%, Install Quality 58/100, Top-quartile CTR? 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Results (And What They Mean)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Six headline numbers - what they are, how high they scored, and what it means in plain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54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Our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5544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What it means in plain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Click-Through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1031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Calibri"/>
              </a:rPr>
              <a:t>R² = 0.75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0 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1031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A72E"/>
                </a:solidFill>
                <a:latin typeface="Calibri"/>
              </a:rPr>
              <a:t>Model explains 75% of why some ads get clicks and others don't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Cost per Click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69747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Calibri"/>
              </a:rPr>
              <a:t>R² = 0.81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9747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0 to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697479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A72E"/>
                </a:solidFill>
                <a:latin typeface="Calibri"/>
              </a:rPr>
              <a:t>Model explains 81% of CPC variation - our STRONGEST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9183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Cost per Acquisition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29183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Calibri"/>
              </a:rPr>
              <a:t>R² = 0.75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91839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0 to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291839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A72E"/>
                </a:solidFill>
                <a:latin typeface="Calibri"/>
              </a:rPr>
              <a:t>Model explains 75% of why some ads bring cheaper customers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886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Top-CTR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8862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Calibri"/>
              </a:rPr>
              <a:t>AUC = 0.99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886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0.5 to 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8862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A72E"/>
                </a:solidFill>
                <a:latin typeface="Calibri"/>
              </a:rPr>
              <a:t>Out of 100 winner/loser comparisons, the model gets 99 right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D1 Retention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4805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Calibri"/>
              </a:rPr>
              <a:t>R² = 0.73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4805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0 to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480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A72E"/>
                </a:solidFill>
                <a:latin typeface="Calibri"/>
              </a:rPr>
              <a:t>Model explains 73% of which ads bring users who come back next 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74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Install Quality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074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  <a:latin typeface="Calibri"/>
              </a:rPr>
              <a:t>R² = 0.80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0749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0 to 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07492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A72E"/>
                </a:solidFill>
                <a:latin typeface="Calibri"/>
              </a:rPr>
              <a:t>Model explains 80% of variation in user-quality - our BEST creative 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064240" cy="822960"/>
          </a:xfrm>
          <a:prstGeom prst="roundRect">
            <a:avLst/>
          </a:prstGeom>
          <a:solidFill>
            <a:srgbClr val="E7ECF4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Bottom line: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Practically usable accuracy on 6 of the 9 main targets. We disclose the 3 weak ones (ROI, engagement) honestly in §6 of the paper.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Formulas and Evaluation -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The three things any reviewer wants to see: how we predict, how we score, how we prove it's not luck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657600" cy="4937760"/>
          </a:xfrm>
          <a:prstGeom prst="roundRect">
            <a:avLst/>
          </a:prstGeom>
          <a:solidFill>
            <a:srgbClr val="E7ECF4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1. How the model predicts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Stacked predictor: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y_hat(x) = α₀ + Σ_b α_b · b(x)
where b ∈ {HGB, LightGBM, XGBoost, Random Forest}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Ridge meta-learner objective: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min_α  ‖y - Z·α‖²  +  λ‖α‖²
(λ = 0.5)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In plain English: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Four algorithms each guess. Ridge weighs the four guesses and outputs the final number.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463040"/>
            <a:ext cx="3657600" cy="4937760"/>
          </a:xfrm>
          <a:prstGeom prst="roundRect">
            <a:avLst/>
          </a:prstGeom>
          <a:solidFill>
            <a:srgbClr val="E7ECF4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2. How we score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R-squared (regression):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14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R² = 1 - Σ(y - ŷ)² / Σ(y - ȳ)²
Range: 0 to 1. 1 = perfect.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AUC (classifier):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0233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AUC = ∫ TPR(t) d(FPR(t))
Range: 0.5 to 1.0. We get 0.99.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029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Brier (calibration):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4864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Brier = (1/n) Σ (p_hat - y)²
Lower is better. We get 0.027.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463040"/>
            <a:ext cx="3657600" cy="4937760"/>
          </a:xfrm>
          <a:prstGeom prst="roundRect">
            <a:avLst/>
          </a:prstGeom>
          <a:solidFill>
            <a:srgbClr val="E7ECF4"/>
          </a:solidFill>
          <a:ln w="1905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5544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EA72E"/>
                </a:solidFill>
                <a:latin typeface="Calibri"/>
              </a:rPr>
              <a:t>3. How we prove it's not luck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10312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5-fold cross-validation: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514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Train on 4/5, test on 1/5, repeat 5×. Stdev across folds &lt; 0.04 across all targets.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520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Bootstrap 95% CI: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931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Resample test predictions 200 times. Take the 2.5th and 97.5th percentile of R².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9377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Calibri"/>
              </a:rPr>
              <a:t>Plus: leakage audit, ablation,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3492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baseline comparison, and permutation feature importance - all reported in the paper.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Tools We Used (And Why)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Python + scikit-learn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1887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Industry standard for ML. Free. Easy for marketers to maintain.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Gradient Boosting (HGB, LightGBM, XGBoost)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9659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Best results on tabular ad data of this size. Faster than deep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Random Forest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7432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Acts as a stable backup learner with different decision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3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Ridge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520439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Combines the 4 base learners. Simple math. Hard to overfit.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Matplotlib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29768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Generated all 6 charts in the paper. Clean, publication-ready.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Kaggle + Meta Ad Library + Google Ads Transparency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50749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Public sources -&gt; reproducible by anyone with no special access.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Not Other Approaches?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Calibri"/>
              </a:rPr>
              <a:t>Deep Learning (Neural Networks)?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18872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Our data has only ~22,000 rows. DL needs millions to beat tree models. Also harder to explain to a marketer.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Calibri"/>
              </a:rPr>
              <a:t>Just one algorithm?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14884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We tested it. Ablation showed single HGB is competitive. We kept the stack to demonstrate the methodology.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Calibri"/>
              </a:rPr>
              <a:t>Only synthetic data?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10896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Wouldn't survive viva. Real Kaggle + manual tagging makes the project actually credible.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Calibri"/>
              </a:rPr>
              <a:t>Only Kaggle (no manual data)?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06908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Kaggle data has no Indian competitor brand info. Manual tagging fixed that gap.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Calibri"/>
              </a:rPr>
              <a:t>Pre-trained ad models from Meta/Google?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502920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Not public. We can't reuse what we can't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Glossary Part 1: Ad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Each metric explained: what it means, its range, and our score: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CTR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Click-Through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Out of every 100 people who saw the ad, how many clicked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0% to 100% (typical: 0.5-5%)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14173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A72E"/>
                </a:solidFill>
                <a:latin typeface="Calibri"/>
              </a:rPr>
              <a:t>Our R² = 0.73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CPC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Cost Per Click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305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How much we paid per single click on the 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3055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INR 1 to INR 50 (typical: INR 5-20)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21305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A72E"/>
                </a:solidFill>
                <a:latin typeface="Calibri"/>
              </a:rPr>
              <a:t>Our R² = 0.81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437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CPM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4378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Cost Per Mille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437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How much we paid for every 1,000 times the ad was shown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437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INR 50 to INR 500 (platform-dependent)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284378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A72E"/>
                </a:solidFill>
                <a:latin typeface="Calibri"/>
              </a:rPr>
              <a:t>Our R² = 0.73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5701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CPA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5701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Cost Per Acquisition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55701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How much we paid for each user who actually took action (bought / installed)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55701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INR 50 to INR 2000 (varies wildly)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355701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A72E"/>
                </a:solidFill>
                <a:latin typeface="Calibri"/>
              </a:rPr>
              <a:t>Our R² = 0.77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7024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CVR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2702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Conversion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2702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Out of clickers, how many actually bought / installed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7024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0% to 100% (typical: 1-5%)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427024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A72E"/>
                </a:solidFill>
                <a:latin typeface="Calibri"/>
              </a:rPr>
              <a:t>Our R² = 0.68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9834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ROI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983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Calibri"/>
              </a:rPr>
              <a:t>Return on Investment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983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Revenue earned divided by money spent on the 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983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0 to 10+ (1.0 = break-even; &gt;2 is good)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49834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EA72E"/>
                </a:solidFill>
                <a:latin typeface="Calibri"/>
              </a:rPr>
              <a:t>Our R² = 0.33 (weak - data is noisy)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Glossary Part 2: Retention + Stats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D1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Day-1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Out of users who installed, how many opened the app on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097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0% to 100% (typical: 20-40%)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1097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R² = 0.73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556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D7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7556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Day-7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7556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Same idea but 7 days after install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75564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0% to 100% (typical: 8-20%)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175564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R² = 0.65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1401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D30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14015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Day-30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414015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Same idea but 30 days after install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41401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0% to 100% (typical: 3-12%)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41401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R² = 0.68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072383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IQS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072383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Install Quality 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072383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A combined score that weighs retention +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72383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0 to 100 (higher = better users)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3072383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R² = 0.80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3075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R²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73075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R-squared (coefficient of determination)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730751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How much of the variation in the target the model can 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730751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-infinity to 1.0 (1.0 = perfect; 0 = useless)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3730751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0.65-0.81 across our 6 best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891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AUC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389119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Area Under ROC Curve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38911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How well the classifier separates winners from losers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3891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0.5 to 1.0 (0.5 = random; 1.0 = perfect)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438911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0.99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4748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Brier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047487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Brier Score (calibration check)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047487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How well predicted probabilities match real outcomes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047487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0 to 1 (LOWER = better; &lt;0.1 is excellent)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5047487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0.033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0585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MAE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705855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Mean Absolute 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705855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Average size of the model's mistakes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705855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0 to infinity (LOWER = better)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5705855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0.034 on CTR; INR 1.60 on CPC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Glossary Part 3: ML Terms In Plain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Stacking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0972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Multiple ML models trained, then their predictions combined by another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361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HGB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5361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Hist Gradient Boosting - sklearn's tree-based booster, our 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7510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LightGBM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7510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Microsoft's tree-based booster - faster than XGBoost on big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1401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XGBoost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1401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Industry-standard tree-based booster, very accurate on tabular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529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85292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Many decision trees voting; reduces overfitting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Ridge regression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91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Linear regression with a penalty - hard to overfit, good for combining base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307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Cross-validation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307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Train on 4/5 of data, test on 1/5, repeat 5 times. Average score is more reliable than 1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696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Bootstrap CI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16966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Resample test predictions 200 times, take the spread - tells you how lucky a single number 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085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Ablation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60857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Remove one piece at a time and re-test, to see what each piece contributes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0474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Leakage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04748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When a feature accidentally lets the model 'cheat' by computing the answer directly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Permutation importance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4864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Shuffle a feature column, see how much R² drops - that's how much the model relied on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253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D7D31"/>
                </a:solidFill>
                <a:latin typeface="Calibri"/>
              </a:rPr>
              <a:t>F1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92531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Combined accuracy + completeness for classifiers (0 to 1, higher better)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We Divided The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246888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Deepanshu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95959"/>
                </a:solidFill>
                <a:latin typeface="Calibri"/>
              </a:rPr>
              <a:t>Data Strategy &amp;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Strategic dataset curation,
120 hand-tagged competitor ads,
20-brand coverage map,
canonical schema architect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5486400" cy="246888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D7D31"/>
                </a:solidFill>
                <a:latin typeface="Calibri"/>
              </a:rPr>
              <a:t>Akashdeep (Team Lead)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95959"/>
                </a:solidFill>
                <a:latin typeface="Calibri"/>
              </a:rPr>
              <a:t>Model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4-model stacked ensemble,
training pipeline,
leakage audit,
hyperparameter design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86200"/>
            <a:ext cx="5486400" cy="246888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A72E"/>
                </a:solidFill>
                <a:latin typeface="Calibri"/>
              </a:rPr>
              <a:t>Medha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95959"/>
                </a:solidFill>
                <a:latin typeface="Calibri"/>
              </a:rPr>
              <a:t>Feature Engineering &amp;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8 engineered features,
harmonisation pipeline,
label encoding strategy,
leakage-prevention guard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86200"/>
            <a:ext cx="5486400" cy="246888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95959"/>
                </a:solidFill>
                <a:latin typeface="Calibri"/>
              </a:rPr>
              <a:t>Harsh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26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95959"/>
                </a:solidFill>
                <a:latin typeface="Calibri"/>
              </a:rPr>
              <a:t>Model Evaluation &amp;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2920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Calibri"/>
              </a:rPr>
              <a:t>5-fold CV, bootstrap CIs,
ablation study, baselines,
hyperparameter sweep,
all 6 figures generated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Deepanshu - Data Strategy &amp; Product Lead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Deepanshu owns the foundation the entire project sits 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Defined the data strategy: how 10 different sources combine into one usable training set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Curated 9 Kaggle sources by carefully reviewing 30+ candidates - selected the 9 with the strongest signal-to-noise ratio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Aggregated ~912,000 raw rows across the chosen sources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Personally observed and hand-tagged 120 competitor ads on Meta Ad Library + Google Ads Transparency over an 8-day window (20-28 April 2026)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Designed the 20-brand coverage map: baby-care, parenting, edtech - the categories where the model creates real ROI for Indian D2C teams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Architected the canonical schema (12 columns) that lets 6 unrelated Kaggle vendors plug into the same training pipeline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Caught the 382 misaligned rows in source-1 through manual inspection - a data forensics save that prevented downstream training corruption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Built the ONLY Indian-competitor creative-metadata dataset in the public-research domain for this product segment - this is the project's signature contribution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Deepanshu - The 10 Data Sources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Facebook Ad Campaigns (Kaggle)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097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1,143 real 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Social Media Advertising 300k (Kaggle)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300k rows; sampled 10k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Ad Click Prediction 10k (Kaggle)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103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10k user-level clicks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Social Media Optimization (Kaggle)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500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108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Ad Campaign Relational DB (Kaggle)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400k events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Marketing Campaign 200k (Kaggle)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200k; sampled 10k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ChatGPT-generated creative metadata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500 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617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Claude-generated edge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617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200 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1206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Gemini-generated competitor 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300 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23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623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MANUAL: Meta Ad Library + Google Ads Transparency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5623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4E79"/>
                </a:solidFill>
                <a:latin typeface="Calibri"/>
              </a:rPr>
              <a:t>120 hand-tagged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Deepanshu - What His Work Unlocked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Without Deepanshu's data foundation, none of the model work could exist: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21,643 unified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of real campaign data, harmonised across 6 unrelated Kaggle vendors. Largest unified ad-prediction training set in the public-research domain for Indian D2C.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486400" cy="219456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3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Calibri"/>
              </a:rPr>
              <a:t>120 hand-tagged competitor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from Meta Ad Library and Google Ads Transparency. Original ground-truth data that no Kaggle source has. This is what makes the paper publishable.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77639"/>
            <a:ext cx="5486400" cy="219456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EA72E"/>
                </a:solidFill>
                <a:latin typeface="Calibri"/>
              </a:rPr>
              <a:t>20-brand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7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across baby-care, parenting and edtech. Mamaearth, FirstCry, Pampers, BabyChakra, Healofy, Huggies, Himalaya, Johnson's, Sebamed, MamyPoko, BYJU's, Khan Academy + 8 more.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77639"/>
            <a:ext cx="5486400" cy="219456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95959"/>
                </a:solidFill>
                <a:latin typeface="Calibri"/>
              </a:rPr>
              <a:t>Forensic data wins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54879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Caught 382 misaligned rows in source-1, fixed '$' string parsing in sources 2 &amp; 6, aggregated 400k raw events to per-ad metrics in source 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Akashdeep (Lead) - Model Development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D7D31"/>
                </a:solidFill>
                <a:latin typeface="Calibri"/>
              </a:rPr>
              <a:t>What Akashdeep built: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A 4-model stacked ensemble that predicts 15 different ad metrics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Base learners: HGB, LightGBM, XGBoost, Random Forest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Ridge meta-learner combines the four predictions into one final answer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Trained with 5-fold cross-validation for honest scoring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Bootstrap 95% confidence intervals on every R-squared (200 resamples)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Caught a leakage bug: CPM was scoring R-squared = 1.0 because spend/impressions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    arithmetic was leaking the answer; removed those features and got real R-squared = 0.73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Ran an honest ablation: stacking adds little vs single HGB; reported 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Akashdeep (Lead) - How The Stack Works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Each ad goes through 4 algorithms in parallel; Ridge combines their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46888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HGB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011680"/>
            <a:ext cx="246888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LightGBM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2468880" cy="914400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XGBoost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2011680"/>
            <a:ext cx="2468880" cy="91440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RandomForest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669280" y="3108960"/>
            <a:ext cx="640080" cy="54864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3840480"/>
            <a:ext cx="484632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Ridge Meta-Learner (combines the 4)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669280" y="4937760"/>
            <a:ext cx="640080" cy="548640"/>
          </a:xfrm>
          <a:prstGeom prst="down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5669280"/>
            <a:ext cx="7589520" cy="822960"/>
          </a:xfrm>
          <a:prstGeom prst="round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Final Prediction (CTR / CPC / D1 retention / etc.)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Input Format - What The Model Expects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13 fields per ad. Mix of categories and numbers: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brand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71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Mamaearth / FirstCry / BabyChakra / Pampers India /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556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5564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Facebook / Instagram / Google / Pinterest / Twitter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96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ad_format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3969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3969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Image / Video / Carousel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237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creative_theme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52374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52374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Discount / Testimonial / Expert / Emotional / Educational / Community / Informational / Product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077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cta_button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90779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category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907791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Shop Now / Buy Now / Install Now / Learn More / Sign Up / Download / Get 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audience_segment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2918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category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2918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TTC / Pregnant_Tri1-3 / New_Mom_0-6m / New_Mom_6-12m / Mom_1-3y / Broad_Women_25-35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67588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67588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675887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English / Hindi / Hinglish / Tamil / Telugu / Regional Mix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5993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has_offer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05993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yes/no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59935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1 if discount/offer mentioned, else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443983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has_expert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44398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yes/no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443983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1 if doctor/expert claim mentioned, else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2803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impressions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4828031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number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828031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How many times the ad was shown (or a forecast)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212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clicks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2120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number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2120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How many clicks (or forecast)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9612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spend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596127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number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596127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INR spent on the 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98017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days_active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5980175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D7D31"/>
                </a:solidFill>
                <a:latin typeface="Calibri"/>
              </a:rPr>
              <a:t>number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980175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How long the ad has been running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Output Format - 15 Predictions Per 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Every ad gets all 15 predictions back. Here's the format with units: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predicted_ctr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71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 (0-1)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71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Predicted click-through rate, e.g. 0.024 = 2.4%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007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predicted_cpc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70078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INR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7007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Predicted cost per click, e.g. 13.50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2996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predicted_cvr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29967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 (0-1)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02996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Predicted conversion rate, e.g. 0.018 = 1.8%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35915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35915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359151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Predicted ROI, e.g. 1.8 means 1.8x return on spend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8833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predicted_cpm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88335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INR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68833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Predicted cost per 1000 impressions, e.g. 118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predicted_cpa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01751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INR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01751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Predicted cost per acquisition, e.g. 240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34670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346703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46703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Engagement score (1-10 typical)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6758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high_ctr_probability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675887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 (0-1)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367588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Probability ad lands in top quartile for 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0050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high_engagement_probability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0050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0050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Probability ad lands in top quartile for engagement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34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high_cvr_probability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33425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33425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Probability ad lands in top quartile for 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663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predicted_d1_retention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6634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 (0-1)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Predicted day-1 retention, e.g. 0.22 = 22%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9926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predicted_d7_retention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4992624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 (0-1)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49926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Predicted day-7 retention, e.g. 0.10 = 10%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218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predicted_d30_retention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32180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 (0-1)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53218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Predicted day-30 retention, e.g. 0.05 = 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650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predicted_iqs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56509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 (0-100)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0" y="56509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Install Quality Score, higher is better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9801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EA72E"/>
                </a:solidFill>
                <a:latin typeface="Calibri"/>
              </a:rPr>
              <a:t>cross_platform_lift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598017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D7D31"/>
                </a:solidFill>
                <a:latin typeface="Calibri"/>
              </a:rPr>
              <a:t>float (0-1)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598017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Calibri"/>
              </a:rPr>
              <a:t>How well will this travel from Meta to Google? Higher = better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Akashdeep (Lead) - Output: 15 Predictions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05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Score (CV)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005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4E79"/>
                </a:solidFill>
                <a:latin typeface="Calibri"/>
              </a:rP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Click-Through Rate (CTR)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Calibri"/>
              </a:rPr>
              <a:t>0.75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Strong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Cost per Click (CPC)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Calibri"/>
              </a:rPr>
              <a:t>0.81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057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EA72E"/>
                </a:solidFill>
                <a:latin typeface="Calibri"/>
              </a:rPr>
              <a:t>Best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Cost per Mille (CPM)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Calibri"/>
              </a:rPr>
              <a:t>0.73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Strong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Cost per Acquisition (CPA)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Calibri"/>
              </a:rPr>
              <a:t>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63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Strong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Conversion Rate (CVR)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Calibri"/>
              </a:rPr>
              <a:t>0.65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Good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High-CTR Classifier (AUC)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Calibri"/>
              </a:rPr>
              <a:t>0.99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EA72E"/>
                </a:solidFill>
                <a:latin typeface="Calibri"/>
              </a:rPr>
              <a:t>Excellent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D1 Retention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Calibri"/>
              </a:rPr>
              <a:t>0.73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Calibri"/>
              </a:rPr>
              <a:t>Good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074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Install Quality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D7D31"/>
                </a:solidFill>
                <a:latin typeface="Calibri"/>
              </a:rPr>
              <a:t>0.80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5074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EA72E"/>
                </a:solidFill>
                <a:latin typeface="Calibri"/>
              </a:rPr>
              <a:t>Best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Medha - Feature Engineering &amp; Data Pipeline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EA72E"/>
                </a:solidFill>
                <a:latin typeface="Calibri"/>
              </a:rPr>
              <a:t>Medha turns raw rows into model-ready features - the model's accuracy depends on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Designed the harmonisation pipeline: 6 Kaggle vendors with different schemas -&gt; one canonical 12-column table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Engineered 8 derived features that drive the model's accuracy: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    log_impressions, log_clicks, log_spend (handles long-tailed distributions)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    impression_decile_within_source (relative scale across vendors)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    platform x source interaction (captures vendor-platform pricing)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    ctr x log_impressions, spend_per_click, cost_per_impression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Built the leakage-prevention guard: per-target feature exclusion list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Implemented label encoding for 8 categorical fields (platform, brand, format, theme, CTA, audience, language, source_dataset)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Designed the missing-value strategy: fill numerics with -1 so trees split on absence, not impute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Set up the outlier clipping: 0.5%/99.5% quantile cuts per target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Medha - The 8 Engineered Features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Each engineered feature solves a specific modelling problem: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72E"/>
                </a:solidFill>
                <a:latin typeface="Courier New"/>
              </a:rPr>
              <a:t>log_impressions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371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Impression counts span 4 orders of magnitude. Log-transform stabilises tree splits.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72E"/>
                </a:solidFill>
                <a:latin typeface="Courier New"/>
              </a:rPr>
              <a:t>log_clicks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9659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Same reason. Plus useful for click-rate features without a divide-by-zero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72E"/>
                </a:solidFill>
                <a:latin typeface="Courier New"/>
              </a:rPr>
              <a:t>log_spend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560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Spend is right-tailed. Log makes the high-spend outliers learnable instead of dominating.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5467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72E"/>
                </a:solidFill>
                <a:latin typeface="Courier New"/>
              </a:rPr>
              <a:t>impression_decile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15467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Bucketed within source. Captures relative campaign size when absolute scale differs across vendors.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72E"/>
                </a:solidFill>
                <a:latin typeface="Courier New"/>
              </a:rPr>
              <a:t>plat_src interaction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374903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Platform encoding × source encoding. Captures Pinterest-on-source-2 ≠ Pinterest-on-source-6.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43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72E"/>
                </a:solidFill>
                <a:latin typeface="Courier New"/>
              </a:rPr>
              <a:t>ctr × log_impressions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3434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Lets the model use 'CTR adjusted for traffic volume' as a single feature.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72E"/>
                </a:solidFill>
                <a:latin typeface="Courier New"/>
              </a:rPr>
              <a:t>spend_per_click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49377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Direct cost-efficiency input - useful for ROI and CPA targets.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EA72E"/>
                </a:solidFill>
                <a:latin typeface="Courier New"/>
              </a:rPr>
              <a:t>cost_per_impression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55321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CPM-like signal that the tree can use without recomputing it from spend/impressions.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Medha - What Feature Engineering Unlocked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The model only works because the inputs were engineered carefully. Proof: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EA72E"/>
                </a:solidFill>
                <a:latin typeface="Calibri"/>
              </a:rPr>
              <a:t>Top features in CTR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source_enc, log_impressions, platform_enc, plat_src - all four are Medha's engineered features. Without them the model has nothing to grip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486400" cy="228600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Calibri"/>
              </a:rPr>
              <a:t>Top features in D1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creative_theme_enc, has_offer, has_expert, audience_segment_enc - label-encoded features Medha built.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5486400" cy="228600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Calibri"/>
              </a:rPr>
              <a:t>Leakage prevention in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Caught CPM = 1.0 trivial baseline. Removed log_spend + platform_enc from CPM features. Final R² = 0.73 - genuine prediction, not arithmetic.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31920"/>
            <a:ext cx="5486400" cy="228600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0690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  <a:latin typeface="Calibri"/>
              </a:rPr>
              <a:t>Cross-vendor generalisation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Calibri"/>
              </a:rPr>
              <a:t>Source heterogeneity handled via source_enc + impression decile. Model works across Meta, Google, Pinterest, Twitter, Instagram with one set of weights.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Harsh - Model Evaluation and Tuning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95959"/>
                </a:solidFill>
                <a:latin typeface="Calibri"/>
              </a:rPr>
              <a:t>What Harsh built and ran on the model side: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Designed the evaluation protocol: 80/20 train-test split + 5-fold CV + bootstrap CIs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Wrote the ablation study script - drop one base learner at a time, retrain, measure delta R²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Built the baseline comparison: predict-the-mean, linear regression, Ridge, single HGB, single XGB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Ran hyperparameter exploration: max_iter {300, 500}, max_depth {6, 7, 8}, learning_rate = 0.05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Computed per-platform R² breakdown (Meta vs Google vs Pinterest vs Twitter)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Generated all 6 figures - R² with CI bars, feature importance, calibration, ablation, baselines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595959"/>
                </a:solidFill>
                <a:latin typeface="Calibri"/>
              </a:rPr>
              <a:t>• Discovered the LLM-data finding: dropping LLM rows IMPROVES D1 R² by 5.8 points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Harsh - Validation Framework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95959"/>
                </a:solidFill>
                <a:latin typeface="Calibri"/>
              </a:rPr>
              <a:t>The 6 model-validation tools Harsh implemented and what each one proves: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5-fold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554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Trained on 4 folds, tested on 1, repeated 5 times. Stdev across folds &lt; 0.04 -&gt; model is stable.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Bootstrap 95% CIs (200 resamples)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331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Resampled test predictions 200 times. Tells us how much luck is in our headline R².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Leakage audit per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1089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Caught the CPM = 1.0 trivial-baseline bug. Documented per-target feature exclusions.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Ablation study (4 base learners)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8862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Drop each base learner; retrain; measure delta R². Found stack barely beats single HGB.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Baseline comparison (5 baselines)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6634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Single XGB and HGB both score within 0.01 R² of full stack on CTR.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40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Permutation feature importance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54406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Shuffle each feature; see how much R² drops. Validates which inputs the model truly relies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End-to-End Input -&gt; Output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  <a:latin typeface="Calibri"/>
              </a:rPr>
              <a:t>Suppose a marketer wants to test a new Mamaearth carousel ad on Facebook: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931920" cy="411480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Brand: Mamaearth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Platform: Facebook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Format: Carousel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Theme: Discount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Audience: New mothers 0-6m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Language: Hinglish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CTA: Shop Now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Has expert: No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595959"/>
                </a:solidFill>
                <a:latin typeface="Calibri"/>
              </a:rPr>
              <a:t>• Has offer: Yes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663440" y="3657600"/>
            <a:ext cx="731520" cy="4572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2743200"/>
            <a:ext cx="1828800" cy="21945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STACKED
MODEL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589520" y="3657600"/>
            <a:ext cx="731520" cy="45720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0" y="1828800"/>
            <a:ext cx="3200400" cy="4114800"/>
          </a:xfrm>
          <a:prstGeom prst="roundRect">
            <a:avLst/>
          </a:prstGeom>
          <a:solidFill>
            <a:srgbClr val="E7ECF4"/>
          </a:solidFill>
          <a:ln w="25400">
            <a:solidFill>
              <a:srgbClr val="4EA7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EA72E"/>
                </a:solidFill>
                <a:latin typeface="Calibri"/>
              </a:rPr>
              <a:t>PREDICTED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46888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Calibri"/>
              </a:rPr>
              <a:t>• CTR: ~ 2.4%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Calibri"/>
              </a:rPr>
              <a:t>• CPC: INR 12-15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Calibri"/>
              </a:rPr>
              <a:t>• CVR: ~ 1.8%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Calibri"/>
              </a:rPr>
              <a:t>• CPM: INR 110-125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Calibri"/>
              </a:rPr>
              <a:t>• Will user retain D1: 22%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Calibri"/>
              </a:rPr>
              <a:t>• Install Quality: 58 / 100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Calibri"/>
              </a:rPr>
              <a:t>• Top-quartile CTR? Yes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595959"/>
                </a:solidFill>
                <a:latin typeface="Calibri"/>
              </a:rPr>
              <a:t>• Cross-platform travel: Low (discount-led)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Headline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Calibri"/>
              </a:rPr>
              <a:t>All 12 prediction tasks with confidence bars (higher = better):</a:t>
            </a:r>
          </a:p>
        </p:txBody>
      </p:sp>
      <p:pic>
        <p:nvPicPr>
          <p:cNvPr id="5" name="Picture 4" descr="fig1_r2_with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463040"/>
            <a:ext cx="9144000" cy="516367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Likely Viva Questions - We're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Q. Why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Real D2C marketing teams burn budget guessing. We tried to help them guess less.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Q. What's the dataset?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9 Kaggle sources + 120 manually-tagged Indian competitor ads. ~22,000 unified rows.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Q. Why these algorithms?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377439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Tree-based gradient boosting beats neural nets on tabular data this size. Explainable too.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Q. Why didn't you use deep learning?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Not enough rows. DL needs millions. We have 22,000.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Q. Is this overfitting?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65760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5-fold CV stdev &lt; 0.04 across all targets. Bootstrap CIs are tight. No.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Q. Why is ROI weak?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29768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Source-06 ROI column has |r| &lt; 0.02 with every feature. It's noise. No model can fix that.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3775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Q. How accurate?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937759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R-squared 0.65-0.81 on 6 main targets. AUC 0.99 on the high-CTR classifier.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Calibri"/>
              </a:rPr>
              <a:t>Q. Most surprising finding?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55778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Calibri"/>
              </a:rPr>
              <a:t>Dropping LLM-augmented data IMPROVED D1 retention by 5.8 R-squared points.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Calibri"/>
              </a:rPr>
              <a:t>Questions and discussion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GitHub repo, paper, results JSON and trained models all released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