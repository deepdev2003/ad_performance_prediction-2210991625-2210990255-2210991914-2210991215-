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2400" b="1">
                <a:solidFill>
                  <a:srgbClr val="212121"/>
                </a:solidFill>
                <a:latin typeface="Times New Roman"/>
              </a:rPr>
              <a:t>Ad Performance Prediction Using a Hybrid Stacked-Ensemble ML Framework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sz="1500" b="1">
                <a:solidFill>
                  <a:srgbClr val="212121"/>
                </a:solidFill>
                <a:latin typeface="Times New Roman"/>
              </a:rPr>
              <a:t>Deepanshu Jindal  •  Akashdeep Singla  •  Medha Anand Chomal  •  Harsh Sinha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300" b="0">
                <a:solidFill>
                  <a:srgbClr val="555555"/>
                </a:solidFill>
                <a:latin typeface="Times New Roman"/>
              </a:rPr>
              <a:t>2210990255  •  2210991215  •  2210991914  •  2210991625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400" b="1">
                <a:solidFill>
                  <a:srgbClr val="212121"/>
                </a:solidFill>
                <a:latin typeface="Times New Roman"/>
              </a:rPr>
              <a:t>Mr. Gurpreet Singh, Assistant Professor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Times New Roman"/>
              </a:rPr>
              <a:t>Department of Computer Science and Engineering, Chitkara University, Punjab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Times New Roman"/>
              </a:rPr>
              <a:t>Department of Computer Science and Engineering, 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r>
              <a:rPr sz="1100">
                <a:solidFill>
                  <a:srgbClr val="555555"/>
                </a:solidFill>
                <a:latin typeface="Times New Roman"/>
              </a:rPr>
              <a:t>28</a:t>
            </a:r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The Problem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Times New Roman"/>
              </a:rPr>
              <a:t>A real scenario faced by D2C marketing teams every day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8288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latin typeface="Times New Roman"/>
              </a:rPr>
              <a:t>•  A 3-person performance team has INR 8 lakh for a Diwali campaign.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latin typeface="Times New Roman"/>
              </a:rPr>
              <a:t>•  They build 5 creatives over the weekend and launch them on Monday.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latin typeface="Times New Roman"/>
              </a:rPr>
              <a:t>•  By Wednesday, 3 are already dead — INR 80,000 wasted on each.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latin typeface="Times New Roman"/>
              </a:rPr>
              <a:t>•  Two creatives end up carrying the entire campaign.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Times New Roman"/>
              </a:rPr>
              <a:t>Could ML have identified the 2 winners on Sunday night?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A72E"/>
                </a:solidFill>
                <a:latin typeface="Times New Roman"/>
              </a:rPr>
              <a:t>If yes, INR 2.4 lakh saved — enough for a second campaign.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What We Built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</a:rPr>
              <a:t>An ML system that predicts ad performance BEFORE it goes live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1737360"/>
            <a:ext cx="246888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INPUT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474720" y="1737360"/>
            <a:ext cx="2468880" cy="4114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7472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92240" y="1737360"/>
            <a:ext cx="2468880" cy="41148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9224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OUTPUT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22860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Brand name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Platform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Format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Theme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Audience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Language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CTA button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4720" y="22860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4-model stacked ensemble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22,000+ real ads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1,120 creative samples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120 hand-tagged competitor ads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Algorithms: HGB, LightGBM,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XGBoost, RF + Ridge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92240" y="22860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CTR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Cost per Click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Cost per Mille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Cost per Acquisition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Conversion Rate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D1/D7/D30 retention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Install Quality Score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212121"/>
                </a:solidFill>
                <a:latin typeface="Times New Roman"/>
              </a:rPr>
              <a:t>•  +8 more = 15 total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7200" y="5394960"/>
            <a:ext cx="822960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0080" y="54406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  <a:latin typeface="Times New Roman"/>
              </a:rPr>
              <a:t>EXAMPLE - Mamaearth carousel on Facebook: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Input: brand=Mamaearth, format=Carousel, theme=Discount, audience=New_Mom_0_6m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Times New Roman"/>
              </a:rPr>
              <a:t>Predicted -&gt; CTR ~ 2.4%, CPC ~ INR 13, D1 retention ~ 22%, IQS 58/100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Our Results (And What They Mean)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Six headline numbers: what they are, our score, and what it means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457200" y="16459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Plain meaning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Explains 75% of click variation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Explains 81% of CPC variation — strongest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Explains 75% of cost-per-acquisition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High-CTR cls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AUC=0.99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0.5–1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Gets 99 of 100 winner/loser pairs right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D1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Predicts user stickiness on day 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Install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User-quality model — our best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Rounded Rectangle 112"/>
          <p:cNvSpPr/>
          <p:nvPr/>
        </p:nvSpPr>
        <p:spPr>
          <a:xfrm>
            <a:off x="457200" y="5212080"/>
            <a:ext cx="822960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Times New Roman"/>
              </a:rPr>
              <a:t>Bottom line: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" y="5623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Times New Roman"/>
              </a:rPr>
              <a:t>Usable accuracy on 6 of 9 main targets. ROI and engagement are weak — honestly disclosed (Section 6 of paper).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Formulas and Evaluation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How we predict, how we score, how we prove it isn't luck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1737360"/>
            <a:ext cx="2743200" cy="4389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3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</a:rPr>
              <a:t>1. Predict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4360" y="228600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y_hat(x) = Σ α_b · b(x) + α_0
where b ∈ {HGB, LightGBM, XGBoost, RF}
Ridge solves α via:
min ||y - Zα||² + 0.5 ||α||²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291840" y="1737360"/>
            <a:ext cx="2743200" cy="4389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2900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Times New Roman"/>
              </a:rPr>
              <a:t>2. Score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29000" y="228600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R² = 1 - Σ(y - ŷ)² / Σ(y - ȳ)²
AUC = ∫ TPR(t) d(FPR(t))
Brier = (1/n) Σ (p̂ - y)²
(lower is better)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126480" y="1737360"/>
            <a:ext cx="2743200" cy="4389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A72E"/>
                </a:solidFill>
                <a:latin typeface="Times New Roman"/>
              </a:rPr>
              <a:t>3. Validate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3640" y="228600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5-fold CV: train on 4 folds, test on 1, repeat 5×
Bootstrap CI: resample test preds 200×, take [2.5%, 97.5%]
+ leakage audit, ablation, baselines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Tools We Used (And Why)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Tool / Library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Why we chose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Python + 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Industry standard. Free. Easy to maintain.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Gradient Boosting (HGB, LightGBM, 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Best on tabular data this size. Faster than DL.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Stable backup learner with different decision logic.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Combines the 4 base learners. Simple, hard to overfit.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Generated all 6 charts in the paper.</a:t>
                      </a:r>
                    </a:p>
                  </a:txBody>
                  <a:tcPr/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+ Meta Ad Library + Google Ads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Public sources — fully reproducible.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Why Not Other Approaches?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Answer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Deep learning?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Only 22k rows. DL needs millions. Also less explainable for marketers.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Just one algorithm?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Tested. Single HGB is competitive. Stack kept to show methodology.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Synthetic data only?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Won't survive viva. Real Kaggle + manual tagging gives credibility.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Only Kaggle (no manual)?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has no Indian competitor metadata. Manual data fills the gap.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Pre-trained Meta/Google models?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Not public. We can't reuse what we can't access.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Team and Role Division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046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Specific contributions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Deepanshu Jindal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Data Strategy &amp;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9 Kaggle sources, 120 hand-tagged ads, 20-brand coverage map, schema architect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Akashdeep Singla (Lead)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4-model stack, training pipeline, leakage audit, hyperparameter design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Medha Anand Chomal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Harmonisation pipeline, 8 engineered features, label encoding, leakage guard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Harsh Sinha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Model Evaluation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5-fold CV, bootstrap CIs, ablation, baselines, 6 figures, LLM-data discovery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Glossary 1: Performance Metrics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9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274320" y="1280160"/>
          <a:ext cx="8595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053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Acronym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Full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Our 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Click-Through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Out of 100 viewers, how many clicked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R²=0.73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Cost Per 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Average INR paid per 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 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R²=0.81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Cost Per Mille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Cost per 1,000 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 50-500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R²=0.73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Cost Per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 per customer acquired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 50-2000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R²=0.77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Of clickers, how many convert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R²=0.68</a:t>
                      </a:r>
                    </a:p>
                  </a:txBody>
                  <a:tcPr/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Return on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Revenue ÷ ad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 to 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Glossary 2: Retention and Statistics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274320" y="1280160"/>
          <a:ext cx="8595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Acronym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Full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Definition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Our 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Day-1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% installers who open app on 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0-100% (typ 20-40%)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R²=0.73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Day-7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% installers who return after 7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R²=0.65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Day-30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% installers who return after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R²=0.68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Install Quality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Composite user-quality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R²=0.80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Coeff of Determination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% of target variation explained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 to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0.65-0.81 on our 6 best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Area Under 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Separation of winners vs losers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0.5-1.0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Brier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Probability calibration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 (lower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0.033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Glossary 3: ML Terms In Plain Words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Term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Plain-language meaning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Multiple ML models trained, predictions combined by another model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HGB / LightGBM /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Tree-based boosters; the strongest algorithms on tabular data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Many decision trees voting — reduces overfitting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Linear regression with a penalty — combines base models safely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Cross-Validation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Train on 4/5, test on 1/5, repeat 5 times for an honest score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Bootstrap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Resample test predictions to measure how lucky a single result is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Ablation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Remove one piece at a time and re-test, to see what each contributes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When a feature lets the model cheat by computing the answer directly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Permutation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Shuffle a feature; the R² drop tells you how much it matters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Deepanshu — Data Strategy and Product (1/3)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</a:rPr>
              <a:t>Deepanshu owns the foundation the entire project sits 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783080"/>
            <a:ext cx="8229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Defined the data strategy: how 10 sources combine into one training set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Reviewed 30+ Kaggle candidates and curated the 9 with strongest signal-to-noise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Aggregated ~912,000 raw rows across the chosen sources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Personally observed and hand-tagged 120 competitor ads on Meta Ad Library + Google Ads Transparency (20-28 April 2026)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Designed the 20-brand coverage map: baby-care, parenting, edtech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Architected the canonical 12-column schema connecting 6 unrelated Kaggle vendors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Caught 382 misaligned rows in source 1 — a data forensics save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Built the only Indian-competitor creative-metadata dataset in public research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Deepanshu — The 10 Data Sources (2/3)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Rows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Facebook Ad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Social Media Advertising 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10,000 (sampled)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Ad Click Prediction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Social Media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Ad Campaign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400k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Kaggle Marketing Campaign 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10,000 (sampled)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07-09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LLM-generated creative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1,000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LLM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MANUAL: Meta Ad Library + Google Ads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Deepanshu — What His Work Unlocked (3/3)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7200" y="1371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436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</a:rPr>
              <a:t>21,643 unified rows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436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Times New Roman"/>
              </a:rPr>
              <a:t>Largest unified Indian-D2C ad-prediction set in public research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754880" y="1371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9204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Times New Roman"/>
              </a:rPr>
              <a:t>120 hand-tagged ads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204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Times New Roman"/>
              </a:rPr>
              <a:t>Original ground-truth — makes the paper publishable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57200" y="3657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" y="37490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A72E"/>
                </a:solidFill>
                <a:latin typeface="Times New Roman"/>
              </a:rPr>
              <a:t>20-brand coverage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94360" y="4297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Times New Roman"/>
              </a:rPr>
              <a:t>Mamaearth, FirstCry, BabyChakra, BYJU's + 16 more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754880" y="3657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92040" y="37490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Times New Roman"/>
              </a:rPr>
              <a:t>Forensic data wins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92040" y="4297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Times New Roman"/>
              </a:rPr>
              <a:t>382 misaligned rows fixed, $-strings parsed, 400k events aggregated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Akashdeep (Team Lead) — Model Development (1/3)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Times New Roman"/>
              </a:rPr>
              <a:t>What Akashdeep built: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783080"/>
            <a:ext cx="8229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A 4-model stacked ensemble that predicts 15 different ad metrics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Base learners: HGB, LightGBM, XGBoost, Random Forest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Ridge meta-learner combines the four predictions into one final answer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Trained with 5-fold cross-validation for honest scoring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Bootstrap 95% confidence intervals on every R² (200 resamples)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Caught a leakage bug: CPM scoring R²=1.0 due to spend/impressions arithmetic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Ran honest ablation: stacking adds little vs single HGB — reported transparently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Akashdeep — How the Stack Works (2/3)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Each ad goes through 4 algorithms in parallel; Ridge combines them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1920240"/>
            <a:ext cx="18288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HGB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560320" y="1920240"/>
            <a:ext cx="1828800" cy="7315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56032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LightGBM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663440" y="1920240"/>
            <a:ext cx="1828800" cy="73152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66344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XGBoost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766559" y="1920240"/>
            <a:ext cx="1828800" cy="73152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59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RandomForest</a:t>
            </a:r>
          </a:p>
        </p:txBody>
      </p:sp>
      <p:sp>
        <p:nvSpPr>
          <p:cNvPr id="120" name="Down Arrow 119"/>
          <p:cNvSpPr/>
          <p:nvPr/>
        </p:nvSpPr>
        <p:spPr>
          <a:xfrm>
            <a:off x="4114800" y="2788920"/>
            <a:ext cx="548640" cy="4572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2560320" y="3383280"/>
            <a:ext cx="4023360" cy="7315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560320" y="35204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Ridge Meta-Learner (combines the 4)</a:t>
            </a:r>
          </a:p>
        </p:txBody>
      </p:sp>
      <p:sp>
        <p:nvSpPr>
          <p:cNvPr id="123" name="Down Arrow 122"/>
          <p:cNvSpPr/>
          <p:nvPr/>
        </p:nvSpPr>
        <p:spPr>
          <a:xfrm>
            <a:off x="4114800" y="4251960"/>
            <a:ext cx="548640" cy="4572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371600" y="4846320"/>
            <a:ext cx="6400800" cy="73152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71600" y="4983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Final prediction (CTR / CPC / D1 retention / etc.)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Input Format — 13 Fields per Ad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17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Mamaearth, FirstCry, BabyChakra, 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Facebook / Instagram / Google / Pinterest / Twitter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ad_format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Image / Video / Carousel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creative_theme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Discount / Testimonial / Expert / Emotional / 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cta_button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Shop Now / Buy Now / Install Now / Learn More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audience_segment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TTC / Pregnant / New_Mom / Mom_1-3y / 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English / Hindi / Hinglish / Tamil / Regional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has_offer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 if offer mentioned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has_expert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1 if expert claim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Impression count or forecast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Click count or forecast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 planned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days_active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Days running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Output Format — 15 Predictions per Ad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18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18872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31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Output field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0.024 = 2.4% CTR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13.50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0.018 = 1.8%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1.8 = 1.8× return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predicted_cpm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118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240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Engagement score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high_ctr_probability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Top-quartile CTR probability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high_engagement_probability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Top-quartile engagement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high_cvr_probability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Top-quartile CVR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predicted_d1_retention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e.g. 0.22 = 22% return day 1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predicted_d7_retention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Day-7 return rate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predicted_d30_retention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Day-30 return rate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predicted_iqs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Install Quality Score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cross_platform_lift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Meta-to-Google travel score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Akashdeep — Output: 15 Predictions (3/3)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19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1371600" y="128016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Score (CV)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Quality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High-CTR cls (AUC)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D1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Install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Medha — Feature Engineering &amp; Pipeline (1/3)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A72E"/>
                </a:solidFill>
                <a:latin typeface="Times New Roman"/>
              </a:rPr>
              <a:t>Medha turns raw rows into model-ready features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783080"/>
            <a:ext cx="8229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Designed the harmonisation pipeline — 6 vendors -&gt; 1 canonical 12-column table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Engineered 8 derived features driving model accuracy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Built the leakage-prevention guard (per-target feature exclusion list)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Implemented label encoding for 8 categorical fields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Designed missing-value strategy: fill with -1 so trees split on absence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Set up outlier clipping: 0.5/99.5 percentile cuts per target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Medha — The 8 Engineered Features (2/3)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21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Feature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log_impressions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Stabilises trees across 4-order-of-magnitude impression range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log_clicks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Same idea for clicks; also useful for click-rate features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log_spend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Spend is right-tailed; log makes outliers learnable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impression_decile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Captures relative campaign size across vendors with different scales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platform ×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Captures vendor-specific pricing per platform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ctr × log_impressions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Volume-weighted CTR — single feature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spend_per_click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Direct cost-efficiency input for ROI/CPA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cost_per_impression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CPM-like signal without recomputation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Medha — What Feature Engineering Unlocked (3/3)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22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7200" y="1371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436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Times New Roman"/>
              </a:rPr>
              <a:t>Top features in CTR model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436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source_enc, log_impressions, platform_enc, plat_src — all 4 are Medha's engineered features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754880" y="1371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9204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Times New Roman"/>
              </a:rPr>
              <a:t>Top features in D1 retention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204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creative_theme_enc, has_offer, has_expert, audience_segment_enc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57200" y="3657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" y="37490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</a:rPr>
              <a:t>Leakage prevention in action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94360" y="4297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Caught CPM=1.0; removed log_spend + platform_enc; final R²=0.73 — genuine prediction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754880" y="3657600"/>
            <a:ext cx="402336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92040" y="37490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Times New Roman"/>
              </a:rPr>
              <a:t>Cross-vendor generalisation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92040" y="4297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Times New Roman"/>
              </a:rPr>
              <a:t>Source heterogeneity handled via source_enc + impression decile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Harsh — Model Evaluation &amp; Tuning (1/2)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Times New Roman"/>
              </a:rPr>
              <a:t>What Harsh built on the model side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1783080"/>
            <a:ext cx="8229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Designed the evaluation protocol: 80/20 train-test + 5-fold CV + bootstrap CIs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Wrote the ablation study script (drop each base learner, retrain, measure delta R²)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Built the baseline comparison: predict-mean, linear, ridge, single HGB, single XGB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Hyperparameter exploration: max_iter, max_depth, learning_rate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Computed per-platform R² breakdown across all major platforms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Generated all 6 figures: R² with CI bars, feature importance, calibration, ablation, baselines, predicted-vs-actual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12121"/>
                </a:solidFill>
                <a:latin typeface="Times New Roman"/>
              </a:rPr>
              <a:t>•  Discovered: dropping LLM rows IMPROVES D1 R² by 5.8 points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Harsh — Validation Framework (2/2)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Six validation tools Harsh implemented and what each one proves: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457200" y="1737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2701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proves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5-fold cross-validation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Trained on 4 folds, tested on 1, repeated 5×. Stdev across folds &lt; 0.04 → stable.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Bootstrap 95% CIs (200 resamples)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Resampled test preds 200×. Tells us how lucky the headline R² is.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Leakage audit per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Caught CPM=1.0 trivial-baseline bug; documented exclusions.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Ablation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Drop each base learner; found stack barely beats single HGB.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Baseline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Single XGB / HGB within 0.01 of full stack on CTR.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Permutation feature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Shuffle each feature; R² drop reveals true reliance.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End-to-End Example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Suppose a marketer wants to test a new Mamaearth carousel on Facebook: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1783080"/>
            <a:ext cx="3108960" cy="4114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360" y="18745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</a:rPr>
              <a:t>INPUT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4360" y="2331720"/>
            <a:ext cx="28346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Brand: Mamaearth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Platform: Facebook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Format: Carousel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Theme: Discount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Audience: New Mom 0-6m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Language: Hinglish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CTA: Shop Now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Has expert: No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Has offer: Yes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3657600" y="3566160"/>
            <a:ext cx="640080" cy="4572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434840" y="2606040"/>
            <a:ext cx="1280160" cy="15544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34840" y="2743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STACKED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3484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MODEL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5806440" y="3566160"/>
            <a:ext cx="640080" cy="4572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583680" y="1783080"/>
            <a:ext cx="2286000" cy="4114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2084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A72E"/>
                </a:solidFill>
                <a:latin typeface="Times New Roman"/>
              </a:rPr>
              <a:t>PREDICTED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2331720"/>
            <a:ext cx="2011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CTR: ~ 2.4%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CPC: INR 12-15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CVR: ~ 1.8%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CPM: INR 110-125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D1 retention: 22%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IQS: 58/100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Top-quartile CTR: Yes</a:t>
            </a:r>
          </a:p>
          <a:p>
            <a:pPr algn="l">
              <a:spcAft>
                <a:spcPts val="800"/>
              </a:spcAft>
            </a:pPr>
            <a:r>
              <a:rPr sz="1000">
                <a:solidFill>
                  <a:srgbClr val="212121"/>
                </a:solidFill>
                <a:latin typeface="Times New Roman"/>
              </a:rPr>
              <a:t>•  Cross-platform lift: Low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Headline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All 12 prediction tasks with confidence bars (higher is better):</a:t>
            </a:r>
          </a:p>
        </p:txBody>
      </p:sp>
      <p:pic>
        <p:nvPicPr>
          <p:cNvPr id="112" name="Picture 111" descr="fig1_r2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7315200" cy="41309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Likely Viva Questions — We're Ready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/>
            <a:r>
              <a:rPr sz="1200">
                <a:solidFill>
                  <a:srgbClr val="212121"/>
                </a:solidFill>
                <a:latin typeface="Times New Roman"/>
              </a:rPr>
              <a:t>27</a:t>
            </a:r>
          </a:p>
        </p:txBody>
      </p: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457200" y="128016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Answer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Why this project?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D2C marketing teams burn budget guessing. We help them guess less.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What's the dataset?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9 Kaggle sources + 120 hand-tagged Indian competitor ads (~22k unified rows).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Why these algorithms?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Tree-based GB beats DL on tabular data this size. Also explainable.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Why not deep learning?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Not enough rows. DL needs millions; we have 22k.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Is this overfitting?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5-fold CV stdev &lt; 0.04 across all targets. Bootstrap CIs are tight. No.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Why is ROI weak?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Source-06 ROI has |r| &lt; 0.02 with every feature. Pure noise.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Q. Most surprising finding?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</a:rPr>
                        <a:t>Dropping LLM-augmented data IMPROVED D1 retention by 5.8 R² points.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2298</cp:revision>
  <dcterms:created xsi:type="dcterms:W3CDTF">2010-04-09T07:36:15Z</dcterms:created>
  <dcterms:modified xsi:type="dcterms:W3CDTF">2026-04-24T05:21:09Z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